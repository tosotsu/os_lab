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331720" y="91440"/>
            <a:ext cx="754380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331720" y="118872"/>
            <a:ext cx="7543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B81F1F"/>
                </a:solidFill>
                <a:latin typeface="Arial"/>
              </a:rPr>
              <a:t>MULTIMODAL AI WITH
COMPUTER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99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011680" y="27432"/>
            <a:ext cx="82296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500" b="1">
                <a:solidFill>
                  <a:srgbClr val="B20000"/>
                </a:solidFill>
                <a:latin typeface="Arial"/>
              </a:rPr>
              <a:t>MULTIMODAL AI WITH
COMPUTER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2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417320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417320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38528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Motivation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59736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59736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Basic Terminologies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80944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80944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Taxonomy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02152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Literature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59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023359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Comparison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44568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7.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544568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Conclusion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65776"/>
            <a:ext cx="411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B81F1F"/>
                </a:solidFill>
                <a:latin typeface="Arial Narrow"/>
              </a:rPr>
              <a:t>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65776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1414"/>
                </a:solidFill>
                <a:latin typeface="Arial Narrow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607040" cy="34747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Multimodal AI: </a:t>
            </a:r>
            <a:r>
              <a:rPr sz="1700">
                <a:solidFill>
                  <a:srgbClr val="141414"/>
                </a:solidFill>
                <a:latin typeface="Arial Narrow"/>
              </a:rPr>
              <a:t>AI systems that learn from and reason across multiple modalities such as text, images, audio and video.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Vision-Language Models: </a:t>
            </a:r>
            <a:r>
              <a:rPr sz="1700">
                <a:solidFill>
                  <a:srgbClr val="141414"/>
                </a:solidFill>
                <a:latin typeface="Arial Narrow"/>
              </a:rPr>
              <a:t>Models that connect visual information with language for tasks such as visual question answering and image understanding.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Computer Vision Link: </a:t>
            </a:r>
            <a:r>
              <a:rPr sz="1700">
                <a:solidFill>
                  <a:srgbClr val="141414"/>
                </a:solidFill>
                <a:latin typeface="Arial Narrow"/>
              </a:rPr>
              <a:t>Vision encoders extract visual features, while language models provide semantic understanding and reasoning.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983480"/>
            <a:ext cx="10149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700" b="1" i="0">
                <a:solidFill>
                  <a:srgbClr val="B81F1F"/>
                </a:solidFill>
                <a:latin typeface="Arial Narrow"/>
              </a:rPr>
              <a:t>Goal: Combine visual perception with language-based understanding and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607040" cy="338328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Unified Understanding: </a:t>
            </a:r>
            <a:r>
              <a:rPr sz="1700">
                <a:solidFill>
                  <a:srgbClr val="141414"/>
                </a:solidFill>
                <a:latin typeface="Arial Narrow"/>
              </a:rPr>
              <a:t>Many real-world tasks require both visual evidence and language context.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Task Generalization: </a:t>
            </a:r>
            <a:r>
              <a:rPr sz="1700">
                <a:solidFill>
                  <a:srgbClr val="141414"/>
                </a:solidFill>
                <a:latin typeface="Arial Narrow"/>
              </a:rPr>
              <a:t>VLMs transfer knowledge across multiple visual recognition and multimodal tasks.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>
                <a:solidFill>
                  <a:srgbClr val="B81F1F"/>
                </a:solidFill>
                <a:latin typeface="Arial"/>
              </a:rPr>
              <a:t>■ </a:t>
            </a:r>
            <a:r>
              <a:rPr sz="1700" b="1">
                <a:solidFill>
                  <a:srgbClr val="141414"/>
                </a:solidFill>
                <a:latin typeface="Arial Narrow"/>
              </a:rPr>
              <a:t>Better Visual Reasoning: </a:t>
            </a:r>
            <a:r>
              <a:rPr sz="1700">
                <a:solidFill>
                  <a:srgbClr val="141414"/>
                </a:solidFill>
                <a:latin typeface="Arial Narrow"/>
              </a:rPr>
              <a:t>Recent methods add depth, bounding-box or latent visual information when language alone is insufficient.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2870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B81F1F"/>
                </a:solidFill>
                <a:latin typeface="Arial Narrow"/>
              </a:rPr>
              <a:t>The Goal: Move from separate vision and language processing to integrated multimodal reasoning.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Basic Terminologies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5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5212080" cy="42062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VLM: </a:t>
            </a:r>
            <a:r>
              <a:rPr sz="1550">
                <a:solidFill>
                  <a:srgbClr val="141414"/>
                </a:solidFill>
                <a:latin typeface="Arial Narrow"/>
              </a:rPr>
              <a:t>Vision-Language Model combining image and text representations.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Vision Encoder: </a:t>
            </a:r>
            <a:r>
              <a:rPr sz="1550">
                <a:solidFill>
                  <a:srgbClr val="141414"/>
                </a:solidFill>
                <a:latin typeface="Arial Narrow"/>
              </a:rPr>
              <a:t>Network that converts an image into visual features or tokens.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Visual Token: </a:t>
            </a:r>
            <a:r>
              <a:rPr sz="1550">
                <a:solidFill>
                  <a:srgbClr val="141414"/>
                </a:solidFill>
                <a:latin typeface="Arial Narrow"/>
              </a:rPr>
              <a:t>Discrete representation of visual information used by a multimodal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212080" cy="42062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Cross-Modal Alignment: </a:t>
            </a:r>
            <a:r>
              <a:rPr sz="1550">
                <a:solidFill>
                  <a:srgbClr val="141414"/>
                </a:solidFill>
                <a:latin typeface="Arial Narrow"/>
              </a:rPr>
              <a:t>Learning correspondence between visual and language features.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Zero-Shot Learning: </a:t>
            </a:r>
            <a:r>
              <a:rPr sz="1550">
                <a:solidFill>
                  <a:srgbClr val="141414"/>
                </a:solidFill>
                <a:latin typeface="Arial Narrow"/>
              </a:rPr>
              <a:t>Applying learned vision-language knowledge to a task without task-specific training.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Multimodal Reasoning: </a:t>
            </a:r>
            <a:r>
              <a:rPr sz="1550">
                <a:solidFill>
                  <a:srgbClr val="141414"/>
                </a:solidFill>
                <a:latin typeface="Arial Narrow"/>
              </a:rPr>
              <a:t>Using information from more than one modality to reach an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Taxonomy of Multimodal AI with Computer 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6 / 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98848" y="1362456"/>
            <a:ext cx="3209544" cy="6126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 Narrow"/>
              </a:rPr>
              <a:t>Multimodal AI with
Computer 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9748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66928" y="2734056"/>
            <a:ext cx="2112264" cy="19842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 Narrow"/>
              </a:rPr>
              <a:t>Vision-Language Models
• VQA
• Captioning
• Recognition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69748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310127" y="2734056"/>
            <a:ext cx="2112264" cy="19842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 Narrow"/>
              </a:rPr>
              <a:t>Perception-Enhanced
• Depth tokens
• Boxes
• Segmentation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269748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053328" y="2734056"/>
            <a:ext cx="2112264" cy="19842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 Narrow"/>
              </a:rPr>
              <a:t>Efficient VLMs
• Token sparsity
• Sparse attention
• KV compression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2697480"/>
            <a:ext cx="2240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796528" y="2734056"/>
            <a:ext cx="2112264" cy="198424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1414"/>
                </a:solidFill>
                <a:latin typeface="Arial Narrow"/>
              </a:rPr>
              <a:t>Latent Visual Reasoning
• Latent tokens
• Visual thoughts
• Spatial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102412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B81F1F"/>
                </a:solidFill>
                <a:latin typeface="Arial Narrow"/>
              </a:rPr>
              <a:t>Goal: Accurate, efficient and reasoning-capable multimodal visual intelligence.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71032"/>
            <a:ext cx="10728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/>
              <a:t>Fig 1: Taxonomy of Multimodal AI with Computer 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7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234440"/>
            <a:ext cx="81381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141414"/>
                </a:solidFill>
                <a:latin typeface="Arial Narrow"/>
              </a:rPr>
              <a:t>Paper 1: Vision-Language Models for Vision Tasks: A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6400800" cy="32004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Scope: </a:t>
            </a:r>
            <a:r>
              <a:rPr sz="1550">
                <a:solidFill>
                  <a:srgbClr val="141414"/>
                </a:solidFill>
                <a:latin typeface="Arial Narrow"/>
              </a:rPr>
              <a:t>Systematic review of VLMs for image classification, object detection and semantic segmentation.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Foundations: </a:t>
            </a:r>
            <a:r>
              <a:rPr sz="1550">
                <a:solidFill>
                  <a:srgbClr val="141414"/>
                </a:solidFill>
                <a:latin typeface="Arial Narrow"/>
              </a:rPr>
              <a:t>Covers architectures, pre-training objectives, downstream tasks and widely used datasets.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>
                <a:solidFill>
                  <a:srgbClr val="B81F1F"/>
                </a:solidFill>
                <a:latin typeface="Arial"/>
              </a:rPr>
              <a:t>■ </a:t>
            </a:r>
            <a:r>
              <a:rPr sz="1550" b="1">
                <a:solidFill>
                  <a:srgbClr val="141414"/>
                </a:solidFill>
                <a:latin typeface="Arial Narrow"/>
              </a:rPr>
              <a:t>Learning Strategies: </a:t>
            </a:r>
            <a:r>
              <a:rPr sz="1550">
                <a:solidFill>
                  <a:srgbClr val="141414"/>
                </a:solidFill>
                <a:latin typeface="Arial Narrow"/>
              </a:rPr>
              <a:t>Reviews VLM pre-training, transfer learning and knowledge distillation.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50876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607808" y="1545336"/>
            <a:ext cx="3118103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141414"/>
                </a:solidFill>
                <a:latin typeface="Arial Narrow"/>
              </a:rPr>
              <a:t>Web-scale
Image–Text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46888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F1D8D8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607808" y="2505456"/>
            <a:ext cx="3118103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141414"/>
                </a:solidFill>
                <a:latin typeface="Arial Narrow"/>
              </a:rPr>
              <a:t>Vision–Language
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29000"/>
            <a:ext cx="3246120" cy="65836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607808" y="3465576"/>
            <a:ext cx="3118103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 b="1" i="0">
                <a:solidFill>
                  <a:srgbClr val="FFFFFF"/>
                </a:solidFill>
                <a:latin typeface="Arial Narrow"/>
              </a:rPr>
              <a:t>Visual Recognition
Tasks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343400"/>
            <a:ext cx="38404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 b="0" i="0">
                <a:solidFill>
                  <a:srgbClr val="141414"/>
                </a:solidFill>
                <a:latin typeface="Arial Narrow"/>
              </a:rPr>
              <a:t>Classification • Detection • Segmentation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05840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B81F1F"/>
                </a:solidFill>
                <a:latin typeface="Arial Narrow"/>
              </a:rPr>
              <a:t>Base Paper — provides the survey-level foundation for the topic.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71032"/>
            <a:ext cx="10728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/>
              <a:t>Fig 2: Vision-Language Model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8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20" b="1" i="0">
                <a:solidFill>
                  <a:srgbClr val="141414"/>
                </a:solidFill>
                <a:latin typeface="Arial Narrow"/>
              </a:rPr>
              <a:t>Paper 2: Perception Tokens Enhance Visual Reasoning in Multimodal Language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6766560" cy="4023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20">
                <a:solidFill>
                  <a:srgbClr val="B81F1F"/>
                </a:solidFill>
                <a:latin typeface="Arial"/>
              </a:rPr>
              <a:t>■ </a:t>
            </a:r>
            <a:r>
              <a:rPr sz="1420" b="1">
                <a:solidFill>
                  <a:srgbClr val="141414"/>
                </a:solidFill>
                <a:latin typeface="Arial Narrow"/>
              </a:rPr>
              <a:t>Problem: </a:t>
            </a:r>
            <a:r>
              <a:rPr sz="1420">
                <a:solidFill>
                  <a:srgbClr val="141414"/>
                </a:solidFill>
                <a:latin typeface="Arial Narrow"/>
              </a:rPr>
              <a:t>MLMs struggle with perception-heavy tasks such as depth reasoning and object counting.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20">
                <a:solidFill>
                  <a:srgbClr val="B81F1F"/>
                </a:solidFill>
                <a:latin typeface="Arial"/>
              </a:rPr>
              <a:t>■ </a:t>
            </a:r>
            <a:r>
              <a:rPr sz="1420" b="1">
                <a:solidFill>
                  <a:srgbClr val="141414"/>
                </a:solidFill>
                <a:latin typeface="Arial Narrow"/>
              </a:rPr>
              <a:t>Method: </a:t>
            </a:r>
            <a:r>
              <a:rPr sz="1420">
                <a:solidFill>
                  <a:srgbClr val="141414"/>
                </a:solidFill>
                <a:latin typeface="Arial Narrow"/>
              </a:rPr>
              <a:t>AURORA adds perception tokens representing depth maps and bounding boxes as intermediate reasoning steps.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20">
                <a:solidFill>
                  <a:srgbClr val="B81F1F"/>
                </a:solidFill>
                <a:latin typeface="Arial"/>
              </a:rPr>
              <a:t>■ </a:t>
            </a:r>
            <a:r>
              <a:rPr sz="1420" b="1">
                <a:solidFill>
                  <a:srgbClr val="141414"/>
                </a:solidFill>
                <a:latin typeface="Arial Narrow"/>
              </a:rPr>
              <a:t>Training: </a:t>
            </a:r>
            <a:r>
              <a:rPr sz="1420">
                <a:solidFill>
                  <a:srgbClr val="141414"/>
                </a:solidFill>
                <a:latin typeface="Arial Narrow"/>
              </a:rPr>
              <a:t>Uses VQVAE tokenization, multi-task learning and curriculum learning.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20">
                <a:solidFill>
                  <a:srgbClr val="B81F1F"/>
                </a:solidFill>
                <a:latin typeface="Arial"/>
              </a:rPr>
              <a:t>■ </a:t>
            </a:r>
            <a:r>
              <a:rPr sz="1420" b="1">
                <a:solidFill>
                  <a:srgbClr val="141414"/>
                </a:solidFill>
                <a:latin typeface="Arial Narrow"/>
              </a:rPr>
              <a:t>Results: </a:t>
            </a:r>
            <a:r>
              <a:rPr sz="1420">
                <a:solidFill>
                  <a:srgbClr val="141414"/>
                </a:solidFill>
                <a:latin typeface="Arial Narrow"/>
              </a:rPr>
              <a:t>Reported +6.4% on BLINK relative depth and +10.8%, +11.3%, +8.3% on BLINK, CVBench and SEED-Bench counting.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60020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882128" y="1636776"/>
            <a:ext cx="2523744" cy="8869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141414"/>
                </a:solidFill>
                <a:latin typeface="Arial Narrow"/>
              </a:rPr>
              <a:t>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78892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F1D8D8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882128" y="2825496"/>
            <a:ext cx="2523744" cy="8869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141414"/>
                </a:solidFill>
                <a:latin typeface="Arial Narrow"/>
              </a:rPr>
              <a:t>Perception
Tokens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977639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882128" y="4014215"/>
            <a:ext cx="2523744" cy="88696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Arial Narrow"/>
              </a:rPr>
              <a:t>Visual
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71032"/>
            <a:ext cx="10728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/>
              <a:t>Fig 3: Perception Tokens for Visual Reasoning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9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34440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500" b="1" i="0">
                <a:solidFill>
                  <a:srgbClr val="141414"/>
                </a:solidFill>
                <a:latin typeface="Arial Narrow"/>
              </a:rPr>
              <a:t>Paper 3: ZipVL: Accelerating Vision-Language Models through Dynamic Token Sparsity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6675120" cy="4023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Problem: </a:t>
            </a:r>
            <a:r>
              <a:rPr sz="1400">
                <a:solidFill>
                  <a:srgbClr val="141414"/>
                </a:solidFill>
                <a:latin typeface="Arial Narrow"/>
              </a:rPr>
              <a:t>High-resolution images and videos create many visual tokens, causing prefill compute and decoding memory bottlenecks.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Method: </a:t>
            </a:r>
            <a:r>
              <a:rPr sz="1400">
                <a:solidFill>
                  <a:srgbClr val="141414"/>
                </a:solidFill>
                <a:latin typeface="Arial Narrow"/>
              </a:rPr>
              <a:t>Dynamically allocates important-token ratios layer by layer using attention-score distributions.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Optimization: </a:t>
            </a:r>
            <a:r>
              <a:rPr sz="1400">
                <a:solidFill>
                  <a:srgbClr val="141414"/>
                </a:solidFill>
                <a:latin typeface="Arial Narrow"/>
              </a:rPr>
              <a:t>Selected important tokens drive sparse attention and KV-cache compression.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Results: </a:t>
            </a:r>
            <a:r>
              <a:rPr sz="1400">
                <a:solidFill>
                  <a:srgbClr val="141414"/>
                </a:solidFill>
                <a:latin typeface="Arial Narrow"/>
              </a:rPr>
              <a:t>Reported 2.3× prefill acceleration and 2.8× decoding throughput improvement, with 0.5% accuracy reduction on VQAv2 for LLaVA-Next-13B.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331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79208" y="2368296"/>
            <a:ext cx="786384" cy="11612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030" b="1" i="0">
                <a:solidFill>
                  <a:srgbClr val="141414"/>
                </a:solidFill>
                <a:latin typeface="Arial Narrow"/>
              </a:rPr>
              <a:t>Attention
Scores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31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F1D8D8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430768" y="2368296"/>
            <a:ext cx="786384" cy="11612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030" b="1" i="0">
                <a:solidFill>
                  <a:srgbClr val="141414"/>
                </a:solidFill>
                <a:latin typeface="Arial Narrow"/>
              </a:rPr>
              <a:t>Dynamic
Ratio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0" y="2331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9482328" y="2368296"/>
            <a:ext cx="786384" cy="11612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030" b="1" i="0">
                <a:solidFill>
                  <a:srgbClr val="141414"/>
                </a:solidFill>
                <a:latin typeface="Arial Narrow"/>
              </a:rPr>
              <a:t>Important
Tokens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2331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533888" y="2368296"/>
            <a:ext cx="786384" cy="116128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030" b="1" i="0">
                <a:solidFill>
                  <a:srgbClr val="FFFFFF"/>
                </a:solidFill>
                <a:latin typeface="Arial Narrow"/>
              </a:rPr>
              <a:t>Sparse Attention
+ KV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160520"/>
            <a:ext cx="4389120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50" b="1" i="0">
                <a:solidFill>
                  <a:srgbClr val="B81F1F"/>
                </a:solidFill>
                <a:latin typeface="Arial Narrow"/>
              </a:rPr>
              <a:t>Adaptive token sparsity improves efficiency while retaining important visual information.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71032"/>
            <a:ext cx="10728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/>
              <a:t>Fig 4: Dynamic Token Sparsity and KV Cache Compression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Literature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10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60" b="1" i="0">
                <a:solidFill>
                  <a:srgbClr val="141414"/>
                </a:solidFill>
                <a:latin typeface="Arial Narrow"/>
              </a:rPr>
              <a:t>Paper 4: Machine Mental Imagery: Machine Mental Imagery: Empower Multimodal Reasoning with Latent Visual Tokens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6720840" cy="40233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Problem: </a:t>
            </a:r>
            <a:r>
              <a:rPr sz="1400">
                <a:solidFill>
                  <a:srgbClr val="141414"/>
                </a:solidFill>
                <a:latin typeface="Arial Narrow"/>
              </a:rPr>
              <a:t>Text-only decoding can limit VLMs on tasks requiring visual imagination and spatial reasoning.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Mirage: </a:t>
            </a:r>
            <a:r>
              <a:rPr sz="1400">
                <a:solidFill>
                  <a:srgbClr val="141414"/>
                </a:solidFill>
                <a:latin typeface="Arial Narrow"/>
              </a:rPr>
              <a:t>Interleaves compact latent visual tokens with ordinary text without generating pixel-level images.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Training: </a:t>
            </a:r>
            <a:r>
              <a:rPr sz="1400">
                <a:solidFill>
                  <a:srgbClr val="141414"/>
                </a:solidFill>
                <a:latin typeface="Arial Narrow"/>
              </a:rPr>
              <a:t>Two-stage supervision anchors latent tokens to visual embeddings, then text-only supervision lets them adapt; RL further refines reasoning.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00">
                <a:solidFill>
                  <a:srgbClr val="B81F1F"/>
                </a:solidFill>
                <a:latin typeface="Arial"/>
              </a:rPr>
              <a:t>■ </a:t>
            </a:r>
            <a:r>
              <a:rPr sz="1400" b="1">
                <a:solidFill>
                  <a:srgbClr val="141414"/>
                </a:solidFill>
                <a:latin typeface="Arial Narrow"/>
              </a:rPr>
              <a:t>Results: </a:t>
            </a:r>
            <a:r>
              <a:rPr sz="1400">
                <a:solidFill>
                  <a:srgbClr val="141414"/>
                </a:solidFill>
                <a:latin typeface="Arial Narrow"/>
              </a:rPr>
              <a:t>Experiments report consistent gains across spatial reasoning benchmarks and transfer to smaller VLMs.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182880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790688" y="1545336"/>
            <a:ext cx="1700784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00" b="1" i="0">
                <a:solidFill>
                  <a:srgbClr val="141414"/>
                </a:solidFill>
                <a:latin typeface="Arial Narrow"/>
              </a:rPr>
              <a:t>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46888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1D8D8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7790688" y="2505456"/>
            <a:ext cx="1700784" cy="7955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00" b="1" i="0">
                <a:solidFill>
                  <a:srgbClr val="141414"/>
                </a:solidFill>
                <a:latin typeface="Arial Narrow"/>
              </a:rPr>
              <a:t>&lt;latent&gt;
visual cue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703320"/>
            <a:ext cx="1828800" cy="65836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790688" y="3739896"/>
            <a:ext cx="1700784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00" b="1" i="0">
                <a:solidFill>
                  <a:srgbClr val="141414"/>
                </a:solidFill>
                <a:latin typeface="Arial Narrow"/>
              </a:rPr>
              <a:t>Text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4663440"/>
            <a:ext cx="1828800" cy="65836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790688" y="4700016"/>
            <a:ext cx="1700784" cy="585216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300" b="1" i="0">
                <a:solidFill>
                  <a:srgbClr val="FFFFFF"/>
                </a:solidFill>
                <a:latin typeface="Arial Narrow"/>
              </a:rP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5440680"/>
            <a:ext cx="42976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280" b="1" i="0">
                <a:solidFill>
                  <a:srgbClr val="B81F1F"/>
                </a:solidFill>
                <a:latin typeface="Arial Narrow"/>
              </a:rPr>
              <a:t>Compact visual cues are woven into the reasoning trajectory.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71032"/>
            <a:ext cx="107289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/>
              <a:t>Fig 5: Latent Visual Tokens in Multimodal Reasoning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Comparison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11 /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325880"/>
          <a:ext cx="112928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90525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Paper / Approach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Main Focus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Key Technique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Reported Result / Contribution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Main Scope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050"/>
                        <a:t>Vision-Language Models for Vision Tasks: A Survey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VLM for vision tasks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Pre-training, transfer, distillation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Systematic taxonomy and research directions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Visual recognition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Perception Tokens Enhance Visual Reasoning in Multimodal Language Models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Visual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AURORA + perception tokens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Depth and counting improvements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2D / 3D perception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Accelerating Vision-Language Models through Dynamic Token Sparsity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Inference efficiency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Dynamic token sparsity + KV compression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2.3× prefill; 2.8× decoding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Image / video LVLMs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r>
                        <a:rPr sz="1050"/>
                        <a:t>Machine Mental Imagery: Empower Multimodal Reasoning with Latent Visual Tokens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Multimodal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Latent visual tokens + 2-stage training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Consistent gains on spatial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41414"/>
                          </a:solidFill>
                          <a:latin typeface="Arial Narrow"/>
                        </a:rPr>
                        <a:t>Interleaved visual-text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Literature Summary &amp; Research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12 / 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60120" y="1508760"/>
          <a:ext cx="102412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7772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Paper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Main Contribution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1414"/>
                          </a:solidFill>
                          <a:latin typeface="Arial Narrow"/>
                        </a:rPr>
                        <a:t>Domain</a:t>
                      </a:r>
                    </a:p>
                  </a:txBody>
                  <a:tcPr marL="45720" marR="45720" marT="27432" marB="27432">
                    <a:solidFill>
                      <a:srgbClr val="F1D8D8"/>
                    </a:solidFill>
                  </a:tcPr>
                </a:tc>
              </a:tr>
              <a:tr h="777240">
                <a:tc>
                  <a:txBody>
                    <a:bodyPr wrap="square" lIns="45720" rIns="45720" tIns="27432" bIns="27432"/>
                    <a:lstStyle/>
                    <a:p>
                      <a:r>
                        <a:rPr sz="1050"/>
                        <a:t>Vision-Language Models for Vision Tasks: A Survey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Systematic VLM taxonomy and research directions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Visual recognition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45720" rIns="45720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Perception Tokens Enhance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Visual Reasoning in Multimodal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Language Models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AURORA perception-token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Depth and object counting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45720" rIns="45720" tIns="27432" bIns="27432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Accelerating Vision-Language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Models through Dynamic Token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>
                          <a:latin typeface="Arial"/>
                        </a:rPr>
                        <a:t>Sparsity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Dynamic token sparsity for efficient LVLM inference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Image and video understanding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45720" rIns="45720" tIns="27432" bIns="27432"/>
                    <a:lstStyle/>
                    <a:p>
                      <a:r>
                        <a:rPr sz="1050"/>
                        <a:t>Machine Mental Imagery: Empower Multimodal Reasoning with Latent Visual Tokens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Latent visual tokens for multimodal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/>
                        <a:t>Spatial / multimodal reasoning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5840" y="5257800"/>
            <a:ext cx="1005840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B81F1F"/>
                </a:solidFill>
                <a:latin typeface="Arial Narrow"/>
              </a:rPr>
              <a:t>Research gap: current approaches address perception, inference efficiency, and visual reasoning through different mechanisms.
Overall direction: richer visual representations + efficient multimodal reasoning.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13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10652760" cy="39319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B81F1F"/>
                </a:solidFill>
                <a:latin typeface="Arial"/>
              </a:rPr>
              <a:t>■ </a:t>
            </a:r>
            <a:r>
              <a:rPr sz="1600" b="1">
                <a:solidFill>
                  <a:srgbClr val="141414"/>
                </a:solidFill>
                <a:latin typeface="Arial Narrow"/>
              </a:rPr>
              <a:t>Integration: </a:t>
            </a:r>
            <a:r>
              <a:rPr sz="1600">
                <a:solidFill>
                  <a:srgbClr val="141414"/>
                </a:solidFill>
                <a:latin typeface="Arial Narrow"/>
              </a:rPr>
              <a:t>Multimodal AI connects computer vision with language-based understanding.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B81F1F"/>
                </a:solidFill>
                <a:latin typeface="Arial"/>
              </a:rPr>
              <a:t>■ </a:t>
            </a:r>
            <a:r>
              <a:rPr sz="1600" b="1">
                <a:solidFill>
                  <a:srgbClr val="141414"/>
                </a:solidFill>
                <a:latin typeface="Arial Narrow"/>
              </a:rPr>
              <a:t>Perception: </a:t>
            </a:r>
            <a:r>
              <a:rPr sz="1600">
                <a:solidFill>
                  <a:srgbClr val="141414"/>
                </a:solidFill>
                <a:latin typeface="Arial Narrow"/>
              </a:rPr>
              <a:t>Perception tokens provide intermediate visual information such as depth and bounding boxes.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B81F1F"/>
                </a:solidFill>
                <a:latin typeface="Arial"/>
              </a:rPr>
              <a:t>■ </a:t>
            </a:r>
            <a:r>
              <a:rPr sz="1600" b="1">
                <a:solidFill>
                  <a:srgbClr val="141414"/>
                </a:solidFill>
                <a:latin typeface="Arial Narrow"/>
              </a:rPr>
              <a:t>Efficiency: </a:t>
            </a:r>
            <a:r>
              <a:rPr sz="1600">
                <a:solidFill>
                  <a:srgbClr val="141414"/>
                </a:solidFill>
                <a:latin typeface="Arial Narrow"/>
              </a:rPr>
              <a:t>Dynamic token sparsity reduces computation and KV-cache memory for large vision-language models.</a:t>
            </a:r>
          </a:p>
          <a:p>
            <a:pPr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400">
                <a:solidFill>
                  <a:srgbClr val="B81F1F"/>
                </a:solidFill>
                <a:latin typeface="Arial"/>
              </a:rPr>
              <a:t>■ </a:t>
            </a:r>
            <a:r>
              <a:rPr sz="1600" b="1">
                <a:solidFill>
                  <a:srgbClr val="141414"/>
                </a:solidFill>
                <a:latin typeface="Arial Narrow"/>
              </a:rPr>
              <a:t>Reasoning: </a:t>
            </a:r>
            <a:r>
              <a:rPr sz="1600">
                <a:solidFill>
                  <a:srgbClr val="141414"/>
                </a:solidFill>
                <a:latin typeface="Arial Narrow"/>
              </a:rPr>
              <a:t>Latent visual tokens allow compact visual cues to participate directly in multimodal reasoning.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200"/>
              </a:spcBef>
              <a:spcAft>
                <a:spcPts val="1000"/>
              </a:spcAft>
            </a:pPr>
            <a:r>
              <a:rPr sz="1600" b="1" i="0">
                <a:solidFill>
                  <a:srgbClr val="B81F1F"/>
                </a:solidFill>
                <a:latin typeface="Arial Narrow"/>
              </a:rPr>
              <a:t>Key takeaway: the field is moving toward multimodal systems that can perceive, reason and generate more efficiently.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033271"/>
            <a:ext cx="12191695" cy="5212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33271"/>
          </a:xfrm>
          <a:prstGeom prst="rect">
            <a:avLst/>
          </a:prstGeom>
          <a:solidFill>
            <a:srgbClr val="B81F1F"/>
          </a:solidFill>
          <a:ln>
            <a:solidFill>
              <a:srgbClr val="B8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47472" y="182880"/>
            <a:ext cx="9601200" cy="566928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 i="0">
                <a:solidFill>
                  <a:srgbClr val="FFFFFF"/>
                </a:solidFill>
                <a:latin typeface="Arial Narrow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6217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" y="6336792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CSE(AI)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6336792"/>
            <a:ext cx="630936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Multimodal AI with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00800"/>
            <a:ext cx="1554480" cy="2286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Arial"/>
              </a:rPr>
              <a:t>Page 14 /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81F1F"/>
                </a:solidFill>
                <a:latin typeface="Arial Narrow"/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261872"/>
            <a:ext cx="1005840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60" b="0" i="0">
                <a:solidFill>
                  <a:srgbClr val="141414"/>
                </a:solidFill>
                <a:latin typeface="Arial Narrow"/>
              </a:rPr>
              <a:t>Z. Yang, X. Yu, D. Chen, M. Shen, C. Gan, “Machine Mental Imagery: Empower Multimodal Reasoning with Latent Visual Tokens,” CVPR,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04872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81F1F"/>
                </a:solidFill>
                <a:latin typeface="Arial Narrow"/>
              </a:rPr>
              <a:t>[2]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40863"/>
            <a:ext cx="1005840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60" b="0" i="0">
                <a:solidFill>
                  <a:srgbClr val="141414"/>
                </a:solidFill>
                <a:latin typeface="Arial Narrow"/>
              </a:rPr>
              <a:t>M. Bigverdi, Z. Luo, C.-Y. Hsieh, E. Shen, D. Chen, L. G. Shapiro, R. Krishna, “Perception Tokens Enhance Visual Reasoning in Multimodal Language Models,” CVPR,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3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81F1F"/>
                </a:solidFill>
                <a:latin typeface="Arial Narrow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19856"/>
            <a:ext cx="1005840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60" b="0" i="0">
                <a:solidFill>
                  <a:srgbClr val="141414"/>
                </a:solidFill>
                <a:latin typeface="Arial Narrow"/>
              </a:rPr>
              <a:t>Y. He, F. Chen, J. Liu, W. Shao, H. Zhou, K. Zhang, B. Zhuang, “ZipVL: Accelerating Vision-Language Models through Dynamic Token Sparsity,” ICCV,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62856"/>
            <a:ext cx="41148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B81F1F"/>
                </a:solidFill>
                <a:latin typeface="Arial Narrow"/>
              </a:rPr>
              <a:t>[4]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98848"/>
            <a:ext cx="10058400" cy="7498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60" b="0" i="0">
                <a:solidFill>
                  <a:srgbClr val="141414"/>
                </a:solidFill>
                <a:latin typeface="Arial Narrow"/>
              </a:rPr>
              <a:t>J. Zhang, J. Huang, S. Jin, S. Lu, “Vision-Language Models for Vision Tasks: A Survey,” IEEE TPAMI, 46(8), 5625–5644, 2024.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B81F1F"/>
                </a:solidFill>
                <a:latin typeface="Arial Narrow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141414"/>
                </a:solidFill>
                <a:latin typeface="Arial Narrow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